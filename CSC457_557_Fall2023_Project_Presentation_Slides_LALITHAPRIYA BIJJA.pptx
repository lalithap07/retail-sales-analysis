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2" r:id="rId1"/>
  </p:sldMasterIdLst>
  <p:sldIdLst>
    <p:sldId id="366" r:id="rId2"/>
    <p:sldId id="355" r:id="rId3"/>
    <p:sldId id="360" r:id="rId4"/>
    <p:sldId id="361" r:id="rId5"/>
    <p:sldId id="373" r:id="rId6"/>
    <p:sldId id="363" r:id="rId7"/>
    <p:sldId id="367" r:id="rId8"/>
    <p:sldId id="368" r:id="rId9"/>
    <p:sldId id="370" r:id="rId10"/>
    <p:sldId id="369" r:id="rId11"/>
    <p:sldId id="364" r:id="rId12"/>
    <p:sldId id="371" r:id="rId13"/>
    <p:sldId id="37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4BEEA2-6FC0-41FD-B909-4E3A76313034}" type="datetimeFigureOut">
              <a:rPr lang="en-IN" smtClean="0"/>
              <a:t>02-12-2023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dirty="0"/>
          </a:p>
        </p:txBody>
      </p:sp>
    </p:spTree>
    <p:extLst>
      <p:ext uri="{BB962C8B-B14F-4D97-AF65-F5344CB8AC3E}">
        <p14:creationId xmlns:p14="http://schemas.microsoft.com/office/powerpoint/2010/main" val="373716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4BEEA2-6FC0-41FD-B909-4E3A76313034}" type="datetimeFigureOut">
              <a:rPr lang="en-IN" smtClean="0"/>
              <a:t>02-12-2023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dirty="0"/>
          </a:p>
        </p:txBody>
      </p:sp>
    </p:spTree>
    <p:extLst>
      <p:ext uri="{BB962C8B-B14F-4D97-AF65-F5344CB8AC3E}">
        <p14:creationId xmlns:p14="http://schemas.microsoft.com/office/powerpoint/2010/main" val="1200831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4BEEA2-6FC0-41FD-B909-4E3A76313034}" type="datetimeFigureOut">
              <a:rPr lang="en-IN" smtClean="0"/>
              <a:t>02-12-2023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dirty="0"/>
          </a:p>
        </p:txBody>
      </p:sp>
    </p:spTree>
    <p:extLst>
      <p:ext uri="{BB962C8B-B14F-4D97-AF65-F5344CB8AC3E}">
        <p14:creationId xmlns:p14="http://schemas.microsoft.com/office/powerpoint/2010/main" val="1370525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4BEEA2-6FC0-41FD-B909-4E3A76313034}" type="datetimeFigureOut">
              <a:rPr lang="en-IN" smtClean="0"/>
              <a:t>02-12-2023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36EC0FD-31EC-4256-8110-C1EB9C67215C}" type="slidenum">
              <a:rPr lang="en-IN" smtClean="0"/>
              <a:t>‹#›</a:t>
            </a:fld>
            <a:endParaRPr lang="en-IN" dirty="0"/>
          </a:p>
        </p:txBody>
      </p:sp>
    </p:spTree>
    <p:extLst>
      <p:ext uri="{BB962C8B-B14F-4D97-AF65-F5344CB8AC3E}">
        <p14:creationId xmlns:p14="http://schemas.microsoft.com/office/powerpoint/2010/main" val="921840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4BEEA2-6FC0-41FD-B909-4E3A76313034}" type="datetimeFigureOut">
              <a:rPr lang="en-IN" smtClean="0"/>
              <a:t>02-12-2023</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D36EC0FD-31EC-4256-8110-C1EB9C67215C}" type="slidenum">
              <a:rPr lang="en-IN" smtClean="0"/>
              <a:t>‹#›</a:t>
            </a:fld>
            <a:endParaRPr lang="en-IN" dirty="0"/>
          </a:p>
        </p:txBody>
      </p:sp>
    </p:spTree>
    <p:extLst>
      <p:ext uri="{BB962C8B-B14F-4D97-AF65-F5344CB8AC3E}">
        <p14:creationId xmlns:p14="http://schemas.microsoft.com/office/powerpoint/2010/main" val="4102993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4BEEA2-6FC0-41FD-B909-4E3A76313034}" type="datetimeFigureOut">
              <a:rPr lang="en-IN" smtClean="0"/>
              <a:t>02-12-2023</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D36EC0FD-31EC-4256-8110-C1EB9C67215C}" type="slidenum">
              <a:rPr lang="en-IN" smtClean="0"/>
              <a:t>‹#›</a:t>
            </a:fld>
            <a:endParaRPr lang="en-IN" dirty="0"/>
          </a:p>
        </p:txBody>
      </p:sp>
    </p:spTree>
    <p:extLst>
      <p:ext uri="{BB962C8B-B14F-4D97-AF65-F5344CB8AC3E}">
        <p14:creationId xmlns:p14="http://schemas.microsoft.com/office/powerpoint/2010/main" val="2123513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4BEEA2-6FC0-41FD-B909-4E3A76313034}" type="datetimeFigureOut">
              <a:rPr lang="en-IN" smtClean="0"/>
              <a:t>02-12-2023</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D36EC0FD-31EC-4256-8110-C1EB9C67215C}" type="slidenum">
              <a:rPr lang="en-IN" smtClean="0"/>
              <a:t>‹#›</a:t>
            </a:fld>
            <a:endParaRPr lang="en-IN" dirty="0"/>
          </a:p>
        </p:txBody>
      </p:sp>
    </p:spTree>
    <p:extLst>
      <p:ext uri="{BB962C8B-B14F-4D97-AF65-F5344CB8AC3E}">
        <p14:creationId xmlns:p14="http://schemas.microsoft.com/office/powerpoint/2010/main" val="3299488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4BEEA2-6FC0-41FD-B909-4E3A76313034}" type="datetimeFigureOut">
              <a:rPr lang="en-IN" smtClean="0"/>
              <a:t>02-12-2023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36EC0FD-31EC-4256-8110-C1EB9C67215C}" type="slidenum">
              <a:rPr lang="en-IN" smtClean="0"/>
              <a:t>‹#›</a:t>
            </a:fld>
            <a:endParaRPr lang="en-IN" dirty="0"/>
          </a:p>
        </p:txBody>
      </p:sp>
    </p:spTree>
    <p:extLst>
      <p:ext uri="{BB962C8B-B14F-4D97-AF65-F5344CB8AC3E}">
        <p14:creationId xmlns:p14="http://schemas.microsoft.com/office/powerpoint/2010/main" val="4009835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4BEEA2-6FC0-41FD-B909-4E3A76313034}" type="datetimeFigureOut">
              <a:rPr lang="en-IN" smtClean="0"/>
              <a:t>02-12-2023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36EC0FD-31EC-4256-8110-C1EB9C67215C}" type="slidenum">
              <a:rPr lang="en-IN" smtClean="0"/>
              <a:t>‹#›</a:t>
            </a:fld>
            <a:endParaRPr lang="en-IN" dirty="0"/>
          </a:p>
        </p:txBody>
      </p:sp>
    </p:spTree>
    <p:extLst>
      <p:ext uri="{BB962C8B-B14F-4D97-AF65-F5344CB8AC3E}">
        <p14:creationId xmlns:p14="http://schemas.microsoft.com/office/powerpoint/2010/main" val="3288152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4BEEA2-6FC0-41FD-B909-4E3A76313034}" type="datetimeFigureOut">
              <a:rPr lang="en-IN" smtClean="0"/>
              <a:t>02-12-2023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dirty="0"/>
          </a:p>
        </p:txBody>
      </p:sp>
    </p:spTree>
    <p:extLst>
      <p:ext uri="{BB962C8B-B14F-4D97-AF65-F5344CB8AC3E}">
        <p14:creationId xmlns:p14="http://schemas.microsoft.com/office/powerpoint/2010/main" val="3936534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4BEEA2-6FC0-41FD-B909-4E3A76313034}" type="datetimeFigureOut">
              <a:rPr lang="en-IN" smtClean="0"/>
              <a:t>02-12-2023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870102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4BEEA2-6FC0-41FD-B909-4E3A76313034}" type="datetimeFigureOut">
              <a:rPr lang="en-IN" smtClean="0"/>
              <a:t>02-12-2023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dirty="0"/>
          </a:p>
        </p:txBody>
      </p:sp>
    </p:spTree>
    <p:extLst>
      <p:ext uri="{BB962C8B-B14F-4D97-AF65-F5344CB8AC3E}">
        <p14:creationId xmlns:p14="http://schemas.microsoft.com/office/powerpoint/2010/main" val="1429493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4BEEA2-6FC0-41FD-B909-4E3A76313034}" type="datetimeFigureOut">
              <a:rPr lang="en-IN" smtClean="0"/>
              <a:t>02-12-2023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40863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4BEEA2-6FC0-41FD-B909-4E3A76313034}" type="datetimeFigureOut">
              <a:rPr lang="en-IN" smtClean="0"/>
              <a:t>02-12-2023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dirty="0"/>
          </a:p>
        </p:txBody>
      </p:sp>
    </p:spTree>
    <p:extLst>
      <p:ext uri="{BB962C8B-B14F-4D97-AF65-F5344CB8AC3E}">
        <p14:creationId xmlns:p14="http://schemas.microsoft.com/office/powerpoint/2010/main" val="3303222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4BEEA2-6FC0-41FD-B909-4E3A76313034}" type="datetimeFigureOut">
              <a:rPr lang="en-IN" smtClean="0"/>
              <a:t>02-12-2023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dirty="0"/>
          </a:p>
        </p:txBody>
      </p:sp>
    </p:spTree>
    <p:extLst>
      <p:ext uri="{BB962C8B-B14F-4D97-AF65-F5344CB8AC3E}">
        <p14:creationId xmlns:p14="http://schemas.microsoft.com/office/powerpoint/2010/main" val="13331227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4BEEA2-6FC0-41FD-B909-4E3A76313034}" type="datetimeFigureOut">
              <a:rPr lang="en-IN" smtClean="0"/>
              <a:t>02-12-2023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dirty="0"/>
          </a:p>
        </p:txBody>
      </p:sp>
    </p:spTree>
    <p:extLst>
      <p:ext uri="{BB962C8B-B14F-4D97-AF65-F5344CB8AC3E}">
        <p14:creationId xmlns:p14="http://schemas.microsoft.com/office/powerpoint/2010/main" val="2831811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34BEEA2-6FC0-41FD-B909-4E3A76313034}" type="datetimeFigureOut">
              <a:rPr lang="en-IN" smtClean="0"/>
              <a:t>02-12-2023</a:t>
            </a:fld>
            <a:endParaRPr lang="en-IN"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36EC0FD-31EC-4256-8110-C1EB9C67215C}" type="slidenum">
              <a:rPr lang="en-IN" smtClean="0"/>
              <a:t>‹#›</a:t>
            </a:fld>
            <a:endParaRPr lang="en-IN" dirty="0"/>
          </a:p>
        </p:txBody>
      </p:sp>
    </p:spTree>
    <p:extLst>
      <p:ext uri="{BB962C8B-B14F-4D97-AF65-F5344CB8AC3E}">
        <p14:creationId xmlns:p14="http://schemas.microsoft.com/office/powerpoint/2010/main" val="1128319494"/>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jr2ngb/superstore-data"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C5A9929-7422-4977-BBA7-12885F0C7CB8}"/>
              </a:ext>
            </a:extLst>
          </p:cNvPr>
          <p:cNvSpPr>
            <a:spLocks noGrp="1"/>
          </p:cNvSpPr>
          <p:nvPr>
            <p:ph type="dt" sz="half" idx="10"/>
          </p:nvPr>
        </p:nvSpPr>
        <p:spPr>
          <a:xfrm>
            <a:off x="9524" y="6576975"/>
            <a:ext cx="2743200" cy="236169"/>
          </a:xfrm>
          <a:prstGeom prst="rect">
            <a:avLst/>
          </a:prstGeom>
        </p:spPr>
        <p:txBody>
          <a:bodyPr/>
          <a:lstStyle/>
          <a:p>
            <a:fld id="{8E24DBAB-AD75-40FF-9187-6DE77FD7BDB3}" type="datetime1">
              <a:rPr lang="en-IN" smtClean="0"/>
              <a:t>02-12-2023</a:t>
            </a:fld>
            <a:endParaRPr lang="en-IN" dirty="0"/>
          </a:p>
        </p:txBody>
      </p:sp>
      <p:sp>
        <p:nvSpPr>
          <p:cNvPr id="5" name="Slide Number Placeholder 4">
            <a:extLst>
              <a:ext uri="{FF2B5EF4-FFF2-40B4-BE49-F238E27FC236}">
                <a16:creationId xmlns:a16="http://schemas.microsoft.com/office/drawing/2014/main" id="{5D96C420-F10C-480B-AD21-AE5C0DE6A0F1}"/>
              </a:ext>
            </a:extLst>
          </p:cNvPr>
          <p:cNvSpPr>
            <a:spLocks noGrp="1"/>
          </p:cNvSpPr>
          <p:nvPr>
            <p:ph type="sldNum" sz="quarter" idx="12"/>
          </p:nvPr>
        </p:nvSpPr>
        <p:spPr>
          <a:xfrm>
            <a:off x="9442449" y="6576975"/>
            <a:ext cx="2743200" cy="237600"/>
          </a:xfrm>
          <a:prstGeom prst="rect">
            <a:avLst/>
          </a:prstGeom>
        </p:spPr>
        <p:txBody>
          <a:bodyPr/>
          <a:lstStyle/>
          <a:p>
            <a:fld id="{9FA97EB6-7ED1-4D11-B254-384B9C01727C}" type="slidenum">
              <a:rPr lang="en-IN" smtClean="0"/>
              <a:t>1</a:t>
            </a:fld>
            <a:endParaRPr lang="en-IN" dirty="0"/>
          </a:p>
        </p:txBody>
      </p:sp>
      <p:sp>
        <p:nvSpPr>
          <p:cNvPr id="3" name="Title 1">
            <a:extLst>
              <a:ext uri="{FF2B5EF4-FFF2-40B4-BE49-F238E27FC236}">
                <a16:creationId xmlns:a16="http://schemas.microsoft.com/office/drawing/2014/main" id="{CC76A40F-F019-138A-43E4-F65627E18B82}"/>
              </a:ext>
            </a:extLst>
          </p:cNvPr>
          <p:cNvSpPr txBox="1">
            <a:spLocks/>
          </p:cNvSpPr>
          <p:nvPr/>
        </p:nvSpPr>
        <p:spPr>
          <a:xfrm>
            <a:off x="192803" y="238713"/>
            <a:ext cx="11806389" cy="2962274"/>
          </a:xfrm>
          <a:prstGeom prst="rect">
            <a:avLst/>
          </a:prstGeom>
          <a:ln w="28575">
            <a:noFill/>
          </a:ln>
        </p:spPr>
        <p:txBody>
          <a:bodyPr vert="horz" lIns="91440" tIns="45720" rIns="91440" bIns="45720" rtlCol="0" anchor="ctr" anchorCtr="0">
            <a:noAutofit/>
          </a:bodyPr>
          <a:lstStyle>
            <a:lvl1pPr algn="ctr" defTabSz="914400" rtl="0" eaLnBrk="1" latinLnBrk="0" hangingPunct="1">
              <a:lnSpc>
                <a:spcPct val="90000"/>
              </a:lnSpc>
              <a:spcBef>
                <a:spcPct val="0"/>
              </a:spcBef>
              <a:buNone/>
              <a:defRPr sz="6000" b="1" kern="1200" cap="small" baseline="0">
                <a:solidFill>
                  <a:schemeClr val="accent1">
                    <a:lumMod val="50000"/>
                  </a:schemeClr>
                </a:solidFill>
                <a:latin typeface="Cambria" panose="02040503050406030204" pitchFamily="18" charset="0"/>
                <a:ea typeface="Cambria" panose="02040503050406030204" pitchFamily="18" charset="0"/>
                <a:cs typeface="+mj-cs"/>
              </a:defRPr>
            </a:lvl1pPr>
          </a:lstStyle>
          <a:p>
            <a:pPr>
              <a:lnSpc>
                <a:spcPct val="100000"/>
              </a:lnSpc>
            </a:pPr>
            <a:r>
              <a:rPr lang="en-US" sz="5400" cap="none" spc="50">
                <a:ln w="0"/>
                <a:solidFill>
                  <a:schemeClr val="accent2">
                    <a:lumMod val="75000"/>
                  </a:schemeClr>
                </a:solidFill>
                <a:effectLst>
                  <a:innerShdw blurRad="63500" dist="50800" dir="13500000">
                    <a:srgbClr val="000000">
                      <a:alpha val="50000"/>
                    </a:srgbClr>
                  </a:innerShdw>
                </a:effectLst>
                <a:latin typeface="Cambria"/>
                <a:ea typeface="Cambria"/>
              </a:rPr>
              <a:t>Retail Sales Analysis</a:t>
            </a:r>
            <a:endParaRPr lang="en-IN" sz="5400" dirty="0">
              <a:solidFill>
                <a:schemeClr val="accent2">
                  <a:lumMod val="75000"/>
                </a:schemeClr>
              </a:solidFill>
            </a:endParaRPr>
          </a:p>
        </p:txBody>
      </p:sp>
      <p:sp>
        <p:nvSpPr>
          <p:cNvPr id="9" name="Title 1">
            <a:extLst>
              <a:ext uri="{FF2B5EF4-FFF2-40B4-BE49-F238E27FC236}">
                <a16:creationId xmlns:a16="http://schemas.microsoft.com/office/drawing/2014/main" id="{5777A2B6-0C98-16AB-04F9-438C2B7D8FEB}"/>
              </a:ext>
            </a:extLst>
          </p:cNvPr>
          <p:cNvSpPr txBox="1">
            <a:spLocks/>
          </p:cNvSpPr>
          <p:nvPr/>
        </p:nvSpPr>
        <p:spPr>
          <a:xfrm>
            <a:off x="259977" y="3558401"/>
            <a:ext cx="11268635" cy="1671599"/>
          </a:xfrm>
          <a:prstGeom prst="rect">
            <a:avLst/>
          </a:prstGeom>
          <a:ln w="28575">
            <a:noFill/>
          </a:ln>
        </p:spPr>
        <p:txBody>
          <a:bodyPr vert="horz" lIns="91440" tIns="45720" rIns="91440" bIns="45720" rtlCol="0" anchor="ctr" anchorCtr="0">
            <a:noAutofit/>
          </a:bodyPr>
          <a:lstStyle>
            <a:lvl1pPr algn="ctr" defTabSz="914400" rtl="0" eaLnBrk="1" latinLnBrk="0" hangingPunct="1">
              <a:lnSpc>
                <a:spcPct val="90000"/>
              </a:lnSpc>
              <a:spcBef>
                <a:spcPct val="0"/>
              </a:spcBef>
              <a:buNone/>
              <a:defRPr sz="6000" b="1" kern="1200" cap="small" baseline="0">
                <a:solidFill>
                  <a:schemeClr val="accent1">
                    <a:lumMod val="50000"/>
                  </a:schemeClr>
                </a:solidFill>
                <a:latin typeface="Cambria" panose="02040503050406030204" pitchFamily="18" charset="0"/>
                <a:ea typeface="Cambria" panose="02040503050406030204" pitchFamily="18" charset="0"/>
                <a:cs typeface="+mj-cs"/>
              </a:defRPr>
            </a:lvl1pPr>
          </a:lstStyle>
          <a:p>
            <a:pPr>
              <a:lnSpc>
                <a:spcPct val="100000"/>
              </a:lnSpc>
            </a:pPr>
            <a:r>
              <a:rPr lang="en-US" sz="3200">
                <a:latin typeface="Calibri" panose="020F0502020204030204" pitchFamily="34" charset="0"/>
                <a:ea typeface="Calibri" panose="020F0502020204030204" pitchFamily="34" charset="0"/>
                <a:cs typeface="Calibri" panose="020F0502020204030204" pitchFamily="34" charset="0"/>
              </a:rPr>
              <a:t>CSC 557 (Data Analysis, Decision Making, and Visualization) – Project presentation – Fall 2023</a:t>
            </a:r>
            <a:endParaRPr lang="en-IN" sz="3200" spc="150">
              <a:latin typeface="Calibri" panose="020F0502020204030204" pitchFamily="34" charset="0"/>
              <a:ea typeface="Calibri" panose="020F0502020204030204" pitchFamily="34" charset="0"/>
              <a:cs typeface="Calibri" panose="020F0502020204030204" pitchFamily="34" charset="0"/>
            </a:endParaRPr>
          </a:p>
          <a:p>
            <a:pPr algn="r">
              <a:lnSpc>
                <a:spcPct val="100000"/>
              </a:lnSpc>
            </a:pPr>
            <a:endParaRPr lang="en-IN" sz="3200" spc="150">
              <a:latin typeface="Calibri" panose="020F0502020204030204" pitchFamily="34" charset="0"/>
              <a:ea typeface="Calibri" panose="020F0502020204030204" pitchFamily="34" charset="0"/>
              <a:cs typeface="Calibri" panose="020F0502020204030204" pitchFamily="34" charset="0"/>
            </a:endParaRPr>
          </a:p>
          <a:p>
            <a:pPr algn="r">
              <a:lnSpc>
                <a:spcPct val="100000"/>
              </a:lnSpc>
            </a:pPr>
            <a:endParaRPr lang="en-IN" sz="3200" spc="150">
              <a:latin typeface="Calibri" panose="020F0502020204030204" pitchFamily="34" charset="0"/>
              <a:ea typeface="Calibri" panose="020F0502020204030204" pitchFamily="34" charset="0"/>
              <a:cs typeface="Calibri" panose="020F0502020204030204" pitchFamily="34" charset="0"/>
            </a:endParaRPr>
          </a:p>
          <a:p>
            <a:pPr algn="r">
              <a:lnSpc>
                <a:spcPct val="100000"/>
              </a:lnSpc>
            </a:pPr>
            <a:endParaRPr lang="en-IN" sz="3200" spc="15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IN" sz="2400" spc="150">
                <a:latin typeface="Calibri" panose="020F0502020204030204" pitchFamily="34" charset="0"/>
                <a:ea typeface="Calibri" panose="020F0502020204030204" pitchFamily="34" charset="0"/>
                <a:cs typeface="Calibri" panose="020F0502020204030204" pitchFamily="34" charset="0"/>
              </a:rPr>
              <a:t>Prepared by</a:t>
            </a:r>
            <a:br>
              <a:rPr lang="en-IN" sz="2400" spc="150">
                <a:latin typeface="Calibri" panose="020F0502020204030204" pitchFamily="34" charset="0"/>
                <a:ea typeface="Calibri" panose="020F0502020204030204" pitchFamily="34" charset="0"/>
                <a:cs typeface="Calibri" panose="020F0502020204030204" pitchFamily="34" charset="0"/>
              </a:rPr>
            </a:br>
            <a:r>
              <a:rPr lang="en-IN" sz="2400" spc="150">
                <a:latin typeface="Calibri" panose="020F0502020204030204" pitchFamily="34" charset="0"/>
                <a:ea typeface="Calibri" panose="020F0502020204030204" pitchFamily="34" charset="0"/>
                <a:cs typeface="Calibri" panose="020F0502020204030204" pitchFamily="34" charset="0"/>
              </a:rPr>
              <a:t>Lalitha Priya Bijja</a:t>
            </a:r>
            <a:br>
              <a:rPr lang="en-IN" sz="2400" spc="150">
                <a:latin typeface="Calibri" panose="020F0502020204030204" pitchFamily="34" charset="0"/>
                <a:ea typeface="Calibri" panose="020F0502020204030204" pitchFamily="34" charset="0"/>
                <a:cs typeface="Calibri" panose="020F0502020204030204" pitchFamily="34" charset="0"/>
              </a:rPr>
            </a:br>
            <a:r>
              <a:rPr lang="en-IN" sz="2400" spc="150">
                <a:latin typeface="Calibri" panose="020F0502020204030204" pitchFamily="34" charset="0"/>
                <a:ea typeface="Calibri" panose="020F0502020204030204" pitchFamily="34" charset="0"/>
                <a:cs typeface="Calibri" panose="020F0502020204030204" pitchFamily="34" charset="0"/>
              </a:rPr>
              <a:t>101168225</a:t>
            </a:r>
            <a:endParaRPr lang="en-IN" sz="2400" spc="15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9627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81D05-C154-D2FD-91F9-0B6C40182ABE}"/>
              </a:ext>
            </a:extLst>
          </p:cNvPr>
          <p:cNvSpPr>
            <a:spLocks noGrp="1"/>
          </p:cNvSpPr>
          <p:nvPr>
            <p:ph type="title"/>
          </p:nvPr>
        </p:nvSpPr>
        <p:spPr>
          <a:xfrm>
            <a:off x="2849562" y="609600"/>
            <a:ext cx="6424440" cy="1320800"/>
          </a:xfrm>
        </p:spPr>
        <p:txBody>
          <a:bodyPr>
            <a:normAutofit/>
          </a:bodyPr>
          <a:lstStyle/>
          <a:p>
            <a:r>
              <a:rPr lang="en-IN" b="1">
                <a:latin typeface="Calibri" panose="020F0502020204030204" pitchFamily="34" charset="0"/>
                <a:ea typeface="Calibri" panose="020F0502020204030204" pitchFamily="34" charset="0"/>
                <a:cs typeface="Calibri" panose="020F0502020204030204" pitchFamily="34" charset="0"/>
              </a:rPr>
              <a:t>Problem Statement</a:t>
            </a:r>
          </a:p>
        </p:txBody>
      </p:sp>
      <p:pic>
        <p:nvPicPr>
          <p:cNvPr id="5" name="Picture 4" descr="Angled shot of pen on a graph">
            <a:extLst>
              <a:ext uri="{FF2B5EF4-FFF2-40B4-BE49-F238E27FC236}">
                <a16:creationId xmlns:a16="http://schemas.microsoft.com/office/drawing/2014/main" id="{BAB269D8-D2B6-982E-C7F1-FED60EA571AB}"/>
              </a:ext>
            </a:extLst>
          </p:cNvPr>
          <p:cNvPicPr>
            <a:picLocks noChangeAspect="1"/>
          </p:cNvPicPr>
          <p:nvPr/>
        </p:nvPicPr>
        <p:blipFill rotWithShape="1">
          <a:blip r:embed="rId2"/>
          <a:srcRect l="21336" r="52091" b="1"/>
          <a:stretch/>
        </p:blipFill>
        <p:spPr>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9" name="Isosceles Triangle 8">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AFC69F99-5774-AD32-CDC4-17BE246FED9D}"/>
              </a:ext>
            </a:extLst>
          </p:cNvPr>
          <p:cNvSpPr>
            <a:spLocks noGrp="1"/>
          </p:cNvSpPr>
          <p:nvPr>
            <p:ph idx="1"/>
          </p:nvPr>
        </p:nvSpPr>
        <p:spPr>
          <a:xfrm>
            <a:off x="2849562" y="2160589"/>
            <a:ext cx="6424440" cy="3880773"/>
          </a:xfrm>
        </p:spPr>
        <p:txBody>
          <a:bodyPr>
            <a:normAutofit/>
          </a:bodyPr>
          <a:lstStyle/>
          <a:p>
            <a:pPr marL="0" indent="0">
              <a:buNone/>
            </a:pPr>
            <a:r>
              <a:rPr lang="en-US">
                <a:latin typeface="Calibri" panose="020F0502020204030204" pitchFamily="34" charset="0"/>
                <a:ea typeface="Calibri" panose="020F0502020204030204" pitchFamily="34" charset="0"/>
                <a:cs typeface="Calibri" panose="020F0502020204030204" pitchFamily="34" charset="0"/>
              </a:rPr>
              <a:t>This project's goal is to: </a:t>
            </a:r>
          </a:p>
          <a:p>
            <a:r>
              <a:rPr lang="en-US">
                <a:latin typeface="Calibri" panose="020F0502020204030204" pitchFamily="34" charset="0"/>
                <a:ea typeface="Calibri" panose="020F0502020204030204" pitchFamily="34" charset="0"/>
                <a:cs typeface="Calibri" panose="020F0502020204030204" pitchFamily="34" charset="0"/>
              </a:rPr>
              <a:t>Analyze the data to discover insights that can help the firm perform better. </a:t>
            </a:r>
          </a:p>
          <a:p>
            <a:r>
              <a:rPr lang="en-US">
                <a:latin typeface="Calibri" panose="020F0502020204030204" pitchFamily="34" charset="0"/>
                <a:ea typeface="Calibri" panose="020F0502020204030204" pitchFamily="34" charset="0"/>
                <a:cs typeface="Calibri" panose="020F0502020204030204" pitchFamily="34" charset="0"/>
              </a:rPr>
              <a:t>Learn more about things like:- Product categories with the highest profit margins Geographic areas with the highest sales and profits</a:t>
            </a:r>
          </a:p>
          <a:p>
            <a:r>
              <a:rPr lang="en-US">
                <a:latin typeface="Calibri" panose="020F0502020204030204" pitchFamily="34" charset="0"/>
                <a:ea typeface="Calibri" panose="020F0502020204030204" pitchFamily="34" charset="0"/>
                <a:cs typeface="Calibri" panose="020F0502020204030204" pitchFamily="34" charset="0"/>
              </a:rPr>
              <a:t>Make suggestions for the business on how to boost sales, revenue, and profitability. </a:t>
            </a:r>
            <a:endParaRPr lang="en-IN">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47657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B11CB-5282-FDD9-757D-3A587DAA6C98}"/>
              </a:ext>
            </a:extLst>
          </p:cNvPr>
          <p:cNvSpPr>
            <a:spLocks noGrp="1"/>
          </p:cNvSpPr>
          <p:nvPr>
            <p:ph type="title"/>
          </p:nvPr>
        </p:nvSpPr>
        <p:spPr>
          <a:xfrm>
            <a:off x="2849562" y="609600"/>
            <a:ext cx="6424440" cy="1320800"/>
          </a:xfrm>
        </p:spPr>
        <p:txBody>
          <a:bodyPr>
            <a:normAutofit/>
          </a:bodyPr>
          <a:lstStyle/>
          <a:p>
            <a:r>
              <a:rPr lang="en-US"/>
              <a:t>Collecting and preparing data</a:t>
            </a:r>
            <a:endParaRPr lang="en-IN"/>
          </a:p>
        </p:txBody>
      </p:sp>
      <p:pic>
        <p:nvPicPr>
          <p:cNvPr id="15" name="Picture 14" descr="An abstract design with lines and financial symbols">
            <a:extLst>
              <a:ext uri="{FF2B5EF4-FFF2-40B4-BE49-F238E27FC236}">
                <a16:creationId xmlns:a16="http://schemas.microsoft.com/office/drawing/2014/main" id="{1B1AD825-1C20-AE44-F3BC-24A861A35B21}"/>
              </a:ext>
            </a:extLst>
          </p:cNvPr>
          <p:cNvPicPr>
            <a:picLocks noChangeAspect="1"/>
          </p:cNvPicPr>
          <p:nvPr/>
        </p:nvPicPr>
        <p:blipFill rotWithShape="1">
          <a:blip r:embed="rId2"/>
          <a:srcRect l="39662" r="33864" b="-2"/>
          <a:stretch/>
        </p:blipFill>
        <p:spPr>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16" name="Isosceles Triangle 15">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0ED4BA9A-109F-E869-14DA-159FA7804F7A}"/>
              </a:ext>
            </a:extLst>
          </p:cNvPr>
          <p:cNvSpPr>
            <a:spLocks noGrp="1"/>
          </p:cNvSpPr>
          <p:nvPr>
            <p:ph idx="1"/>
          </p:nvPr>
        </p:nvSpPr>
        <p:spPr>
          <a:xfrm>
            <a:off x="2849562" y="2160589"/>
            <a:ext cx="6424440" cy="3880773"/>
          </a:xfrm>
        </p:spPr>
        <p:txBody>
          <a:bodyPr>
            <a:normAutofit/>
          </a:bodyPr>
          <a:lstStyle/>
          <a:p>
            <a:r>
              <a:rPr lang="en-US"/>
              <a:t>After defining the issue or query, one must collect the information required for analysis. </a:t>
            </a:r>
          </a:p>
          <a:p>
            <a:r>
              <a:rPr lang="en-US"/>
              <a:t>This could entail accessing pre-existing data sets or gathering information from many sources. To make sure the data is accurate, complete, and consistent, one must also need to clean it.</a:t>
            </a:r>
          </a:p>
          <a:p>
            <a:r>
              <a:rPr lang="en-US"/>
              <a:t>Dataset : </a:t>
            </a:r>
            <a:r>
              <a:rPr lang="en-US">
                <a:hlinkClick r:id="rId3"/>
              </a:rPr>
              <a:t>https://www.kaggle.com/datasets/jr2ngb/superstore-data</a:t>
            </a:r>
            <a:r>
              <a:rPr lang="en-US"/>
              <a:t> (Kaggle)</a:t>
            </a:r>
          </a:p>
          <a:p>
            <a:pPr marL="0" indent="0">
              <a:buNone/>
            </a:pPr>
            <a:endParaRPr lang="en-IN"/>
          </a:p>
        </p:txBody>
      </p:sp>
    </p:spTree>
    <p:extLst>
      <p:ext uri="{BB962C8B-B14F-4D97-AF65-F5344CB8AC3E}">
        <p14:creationId xmlns:p14="http://schemas.microsoft.com/office/powerpoint/2010/main" val="3515533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3C00C-B097-08E1-FA3D-800D46703B15}"/>
              </a:ext>
            </a:extLst>
          </p:cNvPr>
          <p:cNvSpPr>
            <a:spLocks noGrp="1"/>
          </p:cNvSpPr>
          <p:nvPr>
            <p:ph type="title"/>
          </p:nvPr>
        </p:nvSpPr>
        <p:spPr>
          <a:xfrm>
            <a:off x="506520" y="548378"/>
            <a:ext cx="8534400" cy="748057"/>
          </a:xfrm>
        </p:spPr>
        <p:txBody>
          <a:bodyPr/>
          <a:lstStyle/>
          <a:p>
            <a:r>
              <a:rPr lang="en-IN" dirty="0">
                <a:solidFill>
                  <a:schemeClr val="accent2"/>
                </a:solidFill>
              </a:rPr>
              <a:t>Exploring the data</a:t>
            </a:r>
          </a:p>
        </p:txBody>
      </p:sp>
      <p:sp>
        <p:nvSpPr>
          <p:cNvPr id="3" name="Content Placeholder 2">
            <a:extLst>
              <a:ext uri="{FF2B5EF4-FFF2-40B4-BE49-F238E27FC236}">
                <a16:creationId xmlns:a16="http://schemas.microsoft.com/office/drawing/2014/main" id="{A46C8B06-42BF-B396-4FA4-C77EFD401570}"/>
              </a:ext>
            </a:extLst>
          </p:cNvPr>
          <p:cNvSpPr>
            <a:spLocks noGrp="1"/>
          </p:cNvSpPr>
          <p:nvPr>
            <p:ph idx="1"/>
          </p:nvPr>
        </p:nvSpPr>
        <p:spPr>
          <a:xfrm>
            <a:off x="444252" y="1013012"/>
            <a:ext cx="8596668" cy="3880773"/>
          </a:xfrm>
        </p:spPr>
        <p:txBody>
          <a:bodyPr/>
          <a:lstStyle/>
          <a:p>
            <a:pPr marL="0" indent="0" algn="just">
              <a:buNone/>
            </a:pPr>
            <a:endParaRPr lang="en-US" dirty="0">
              <a:solidFill>
                <a:schemeClr val="tx1"/>
              </a:solidFill>
            </a:endParaRPr>
          </a:p>
          <a:p>
            <a:pPr marL="0" indent="0" algn="just">
              <a:buNone/>
            </a:pPr>
            <a:r>
              <a:rPr lang="en-US" dirty="0">
                <a:solidFill>
                  <a:schemeClr val="tx1"/>
                </a:solidFill>
              </a:rPr>
              <a:t>After obtaining the data, the next step is to delve into its contents. This process may include generating visualizations, computing fundamental statistics, or employing various exploratory analysis techniques to gain insights.</a:t>
            </a:r>
          </a:p>
          <a:p>
            <a:endParaRPr lang="en-IN" dirty="0">
              <a:solidFill>
                <a:schemeClr val="tx1"/>
              </a:solidFill>
            </a:endParaRPr>
          </a:p>
        </p:txBody>
      </p:sp>
      <p:pic>
        <p:nvPicPr>
          <p:cNvPr id="5" name="Picture 4">
            <a:extLst>
              <a:ext uri="{FF2B5EF4-FFF2-40B4-BE49-F238E27FC236}">
                <a16:creationId xmlns:a16="http://schemas.microsoft.com/office/drawing/2014/main" id="{D663E194-DB8D-0CD5-8D06-3368BAF1F44E}"/>
              </a:ext>
            </a:extLst>
          </p:cNvPr>
          <p:cNvPicPr>
            <a:picLocks noChangeAspect="1"/>
          </p:cNvPicPr>
          <p:nvPr/>
        </p:nvPicPr>
        <p:blipFill>
          <a:blip r:embed="rId2"/>
          <a:stretch>
            <a:fillRect/>
          </a:stretch>
        </p:blipFill>
        <p:spPr>
          <a:xfrm>
            <a:off x="546747" y="2685709"/>
            <a:ext cx="2997088" cy="1823381"/>
          </a:xfrm>
          <a:prstGeom prst="rect">
            <a:avLst/>
          </a:prstGeom>
        </p:spPr>
      </p:pic>
      <p:pic>
        <p:nvPicPr>
          <p:cNvPr id="7" name="Picture 6">
            <a:extLst>
              <a:ext uri="{FF2B5EF4-FFF2-40B4-BE49-F238E27FC236}">
                <a16:creationId xmlns:a16="http://schemas.microsoft.com/office/drawing/2014/main" id="{B9AE4ED4-D18C-F214-5143-76F1C6A7505B}"/>
              </a:ext>
            </a:extLst>
          </p:cNvPr>
          <p:cNvPicPr>
            <a:picLocks noChangeAspect="1"/>
          </p:cNvPicPr>
          <p:nvPr/>
        </p:nvPicPr>
        <p:blipFill>
          <a:blip r:embed="rId3"/>
          <a:stretch>
            <a:fillRect/>
          </a:stretch>
        </p:blipFill>
        <p:spPr>
          <a:xfrm>
            <a:off x="4032965" y="2913080"/>
            <a:ext cx="5753599" cy="1501270"/>
          </a:xfrm>
          <a:prstGeom prst="rect">
            <a:avLst/>
          </a:prstGeom>
        </p:spPr>
      </p:pic>
      <p:pic>
        <p:nvPicPr>
          <p:cNvPr id="9" name="Picture 8">
            <a:extLst>
              <a:ext uri="{FF2B5EF4-FFF2-40B4-BE49-F238E27FC236}">
                <a16:creationId xmlns:a16="http://schemas.microsoft.com/office/drawing/2014/main" id="{8D5DD025-4D3E-098F-963B-8277C8527930}"/>
              </a:ext>
            </a:extLst>
          </p:cNvPr>
          <p:cNvPicPr>
            <a:picLocks noChangeAspect="1"/>
          </p:cNvPicPr>
          <p:nvPr/>
        </p:nvPicPr>
        <p:blipFill>
          <a:blip r:embed="rId4"/>
          <a:stretch>
            <a:fillRect/>
          </a:stretch>
        </p:blipFill>
        <p:spPr>
          <a:xfrm>
            <a:off x="352652" y="4826982"/>
            <a:ext cx="4255206" cy="1508891"/>
          </a:xfrm>
          <a:prstGeom prst="rect">
            <a:avLst/>
          </a:prstGeom>
        </p:spPr>
      </p:pic>
      <p:pic>
        <p:nvPicPr>
          <p:cNvPr id="11" name="Picture 10">
            <a:extLst>
              <a:ext uri="{FF2B5EF4-FFF2-40B4-BE49-F238E27FC236}">
                <a16:creationId xmlns:a16="http://schemas.microsoft.com/office/drawing/2014/main" id="{10E70612-A554-12D7-DCCD-9583489C6FBE}"/>
              </a:ext>
            </a:extLst>
          </p:cNvPr>
          <p:cNvPicPr>
            <a:picLocks noChangeAspect="1"/>
          </p:cNvPicPr>
          <p:nvPr/>
        </p:nvPicPr>
        <p:blipFill>
          <a:blip r:embed="rId5"/>
          <a:stretch>
            <a:fillRect/>
          </a:stretch>
        </p:blipFill>
        <p:spPr>
          <a:xfrm>
            <a:off x="4874400" y="5052731"/>
            <a:ext cx="3810330" cy="777307"/>
          </a:xfrm>
          <a:prstGeom prst="rect">
            <a:avLst/>
          </a:prstGeom>
        </p:spPr>
      </p:pic>
      <p:pic>
        <p:nvPicPr>
          <p:cNvPr id="13" name="Picture 12">
            <a:extLst>
              <a:ext uri="{FF2B5EF4-FFF2-40B4-BE49-F238E27FC236}">
                <a16:creationId xmlns:a16="http://schemas.microsoft.com/office/drawing/2014/main" id="{F2CAC83D-F6C1-FDC1-A2B0-63C0B8A3ADC3}"/>
              </a:ext>
            </a:extLst>
          </p:cNvPr>
          <p:cNvPicPr>
            <a:picLocks noChangeAspect="1"/>
          </p:cNvPicPr>
          <p:nvPr/>
        </p:nvPicPr>
        <p:blipFill>
          <a:blip r:embed="rId6"/>
          <a:stretch>
            <a:fillRect/>
          </a:stretch>
        </p:blipFill>
        <p:spPr>
          <a:xfrm>
            <a:off x="4874400" y="5924778"/>
            <a:ext cx="3086367" cy="769687"/>
          </a:xfrm>
          <a:prstGeom prst="rect">
            <a:avLst/>
          </a:prstGeom>
        </p:spPr>
      </p:pic>
      <p:sp>
        <p:nvSpPr>
          <p:cNvPr id="14" name="TextBox 13">
            <a:extLst>
              <a:ext uri="{FF2B5EF4-FFF2-40B4-BE49-F238E27FC236}">
                <a16:creationId xmlns:a16="http://schemas.microsoft.com/office/drawing/2014/main" id="{0DB638CF-21EB-495E-EBF0-D1615256B6F0}"/>
              </a:ext>
            </a:extLst>
          </p:cNvPr>
          <p:cNvSpPr txBox="1"/>
          <p:nvPr/>
        </p:nvSpPr>
        <p:spPr>
          <a:xfrm>
            <a:off x="444252" y="4537231"/>
            <a:ext cx="2843069" cy="261610"/>
          </a:xfrm>
          <a:prstGeom prst="rect">
            <a:avLst/>
          </a:prstGeom>
          <a:noFill/>
        </p:spPr>
        <p:txBody>
          <a:bodyPr wrap="square" rtlCol="0">
            <a:spAutoFit/>
          </a:bodyPr>
          <a:lstStyle/>
          <a:p>
            <a:r>
              <a:rPr lang="en-IN" sz="1100" dirty="0"/>
              <a:t>Fig 1: Displaying first few rows of data</a:t>
            </a:r>
          </a:p>
        </p:txBody>
      </p:sp>
      <p:sp>
        <p:nvSpPr>
          <p:cNvPr id="15" name="TextBox 14">
            <a:extLst>
              <a:ext uri="{FF2B5EF4-FFF2-40B4-BE49-F238E27FC236}">
                <a16:creationId xmlns:a16="http://schemas.microsoft.com/office/drawing/2014/main" id="{E48481D1-2F2E-10C8-B530-F66BFF0D7894}"/>
              </a:ext>
            </a:extLst>
          </p:cNvPr>
          <p:cNvSpPr txBox="1"/>
          <p:nvPr/>
        </p:nvSpPr>
        <p:spPr>
          <a:xfrm>
            <a:off x="5450541" y="4509090"/>
            <a:ext cx="3110753" cy="261610"/>
          </a:xfrm>
          <a:prstGeom prst="rect">
            <a:avLst/>
          </a:prstGeom>
          <a:noFill/>
        </p:spPr>
        <p:txBody>
          <a:bodyPr wrap="square" rtlCol="0">
            <a:spAutoFit/>
          </a:bodyPr>
          <a:lstStyle/>
          <a:p>
            <a:r>
              <a:rPr lang="en-IN" sz="1100" dirty="0"/>
              <a:t>Fig 2: Display column label</a:t>
            </a:r>
          </a:p>
        </p:txBody>
      </p:sp>
      <p:sp>
        <p:nvSpPr>
          <p:cNvPr id="16" name="TextBox 15">
            <a:extLst>
              <a:ext uri="{FF2B5EF4-FFF2-40B4-BE49-F238E27FC236}">
                <a16:creationId xmlns:a16="http://schemas.microsoft.com/office/drawing/2014/main" id="{E577E295-75D8-DF68-EC71-F9BA93FCCC33}"/>
              </a:ext>
            </a:extLst>
          </p:cNvPr>
          <p:cNvSpPr txBox="1"/>
          <p:nvPr/>
        </p:nvSpPr>
        <p:spPr>
          <a:xfrm>
            <a:off x="645459" y="6335873"/>
            <a:ext cx="2967318" cy="261610"/>
          </a:xfrm>
          <a:prstGeom prst="rect">
            <a:avLst/>
          </a:prstGeom>
          <a:noFill/>
        </p:spPr>
        <p:txBody>
          <a:bodyPr wrap="square" rtlCol="0">
            <a:spAutoFit/>
          </a:bodyPr>
          <a:lstStyle/>
          <a:p>
            <a:r>
              <a:rPr lang="en-IN" sz="1100" dirty="0"/>
              <a:t>Fig 3: Displaying last few rows</a:t>
            </a:r>
          </a:p>
        </p:txBody>
      </p:sp>
    </p:spTree>
    <p:extLst>
      <p:ext uri="{BB962C8B-B14F-4D97-AF65-F5344CB8AC3E}">
        <p14:creationId xmlns:p14="http://schemas.microsoft.com/office/powerpoint/2010/main" val="3790536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B6CA4-B07A-EB44-13DC-5C83F1A810B0}"/>
              </a:ext>
            </a:extLst>
          </p:cNvPr>
          <p:cNvSpPr>
            <a:spLocks noGrp="1"/>
          </p:cNvSpPr>
          <p:nvPr>
            <p:ph type="title"/>
          </p:nvPr>
        </p:nvSpPr>
        <p:spPr>
          <a:xfrm>
            <a:off x="2849562" y="609600"/>
            <a:ext cx="6424440" cy="1320800"/>
          </a:xfrm>
        </p:spPr>
        <p:txBody>
          <a:bodyPr>
            <a:normAutofit/>
          </a:bodyPr>
          <a:lstStyle/>
          <a:p>
            <a:r>
              <a:rPr lang="en-US"/>
              <a:t>Project research Objectives</a:t>
            </a:r>
            <a:endParaRPr lang="en-IN"/>
          </a:p>
        </p:txBody>
      </p:sp>
      <p:pic>
        <p:nvPicPr>
          <p:cNvPr id="5" name="Picture 4" descr="Boxes On Rack In Warehouse">
            <a:extLst>
              <a:ext uri="{FF2B5EF4-FFF2-40B4-BE49-F238E27FC236}">
                <a16:creationId xmlns:a16="http://schemas.microsoft.com/office/drawing/2014/main" id="{A1293565-5078-D853-56EE-EDBCDD0F13E6}"/>
              </a:ext>
            </a:extLst>
          </p:cNvPr>
          <p:cNvPicPr>
            <a:picLocks noChangeAspect="1"/>
          </p:cNvPicPr>
          <p:nvPr/>
        </p:nvPicPr>
        <p:blipFill rotWithShape="1">
          <a:blip r:embed="rId2"/>
          <a:srcRect l="44765" r="28662" b="1"/>
          <a:stretch/>
        </p:blipFill>
        <p:spPr>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9" name="Isosceles Triangle 8">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90BC59F1-9FD7-8437-DBBF-9895D438E7A0}"/>
              </a:ext>
            </a:extLst>
          </p:cNvPr>
          <p:cNvSpPr>
            <a:spLocks noGrp="1"/>
          </p:cNvSpPr>
          <p:nvPr>
            <p:ph idx="1"/>
          </p:nvPr>
        </p:nvSpPr>
        <p:spPr>
          <a:xfrm>
            <a:off x="2849562" y="2160589"/>
            <a:ext cx="6424440" cy="3880773"/>
          </a:xfrm>
        </p:spPr>
        <p:txBody>
          <a:bodyPr>
            <a:normAutofit/>
          </a:bodyPr>
          <a:lstStyle/>
          <a:p>
            <a:pPr marL="0" indent="0">
              <a:lnSpc>
                <a:spcPct val="90000"/>
              </a:lnSpc>
              <a:buNone/>
            </a:pPr>
            <a:r>
              <a:rPr lang="en-US" dirty="0"/>
              <a:t>I am mainly focusing on understanding the factors that contribute to high sales in the retail stores. </a:t>
            </a:r>
          </a:p>
          <a:p>
            <a:pPr>
              <a:lnSpc>
                <a:spcPct val="90000"/>
              </a:lnSpc>
            </a:pPr>
            <a:r>
              <a:rPr lang="en-US" dirty="0"/>
              <a:t>Which product categories in the store have the biggest profit margins? </a:t>
            </a:r>
          </a:p>
          <a:p>
            <a:pPr>
              <a:lnSpc>
                <a:spcPct val="90000"/>
              </a:lnSpc>
            </a:pPr>
            <a:r>
              <a:rPr lang="en-US" dirty="0"/>
              <a:t>Do the east region's sales significantly differ from those in the other areas?</a:t>
            </a:r>
          </a:p>
          <a:p>
            <a:pPr>
              <a:lnSpc>
                <a:spcPct val="90000"/>
              </a:lnSpc>
            </a:pPr>
            <a:r>
              <a:rPr lang="en-US" dirty="0"/>
              <a:t>How do sales fluctuate by product category throughout the course of the year?</a:t>
            </a:r>
          </a:p>
          <a:p>
            <a:pPr>
              <a:lnSpc>
                <a:spcPct val="90000"/>
              </a:lnSpc>
            </a:pPr>
            <a:r>
              <a:rPr lang="en-US" dirty="0"/>
              <a:t>what is the rate of returned products for orders with same-day shipping compared to other shipping options?</a:t>
            </a:r>
          </a:p>
          <a:p>
            <a:pPr>
              <a:lnSpc>
                <a:spcPct val="90000"/>
              </a:lnSpc>
            </a:pPr>
            <a:r>
              <a:rPr lang="en-US" dirty="0"/>
              <a:t>How do weekday sales and profits compare to weekend sales by product category?</a:t>
            </a:r>
          </a:p>
          <a:p>
            <a:pPr>
              <a:lnSpc>
                <a:spcPct val="90000"/>
              </a:lnSpc>
            </a:pPr>
            <a:endParaRPr lang="en-US" dirty="0"/>
          </a:p>
          <a:p>
            <a:pPr>
              <a:lnSpc>
                <a:spcPct val="90000"/>
              </a:lnSpc>
            </a:pPr>
            <a:endParaRPr lang="en-IN" dirty="0"/>
          </a:p>
        </p:txBody>
      </p:sp>
    </p:spTree>
    <p:extLst>
      <p:ext uri="{BB962C8B-B14F-4D97-AF65-F5344CB8AC3E}">
        <p14:creationId xmlns:p14="http://schemas.microsoft.com/office/powerpoint/2010/main" val="3078261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CEFDF-34D0-3D85-A718-1F72BC70BA5A}"/>
              </a:ext>
            </a:extLst>
          </p:cNvPr>
          <p:cNvSpPr>
            <a:spLocks noGrp="1"/>
          </p:cNvSpPr>
          <p:nvPr>
            <p:ph type="title"/>
          </p:nvPr>
        </p:nvSpPr>
        <p:spPr>
          <a:xfrm>
            <a:off x="708212" y="804520"/>
            <a:ext cx="4273525" cy="1049235"/>
          </a:xfrm>
        </p:spPr>
        <p:txBody>
          <a:bodyPr>
            <a:normAutofit/>
          </a:bodyPr>
          <a:lstStyle/>
          <a:p>
            <a:r>
              <a:rPr lang="en-IN">
                <a:solidFill>
                  <a:schemeClr val="accent2"/>
                </a:solidFill>
              </a:rPr>
              <a:t>Testing hypotheses</a:t>
            </a:r>
            <a:endParaRPr lang="en-IN" dirty="0">
              <a:solidFill>
                <a:schemeClr val="accent2"/>
              </a:solidFill>
            </a:endParaRPr>
          </a:p>
        </p:txBody>
      </p:sp>
      <p:sp>
        <p:nvSpPr>
          <p:cNvPr id="3" name="Content Placeholder 2">
            <a:extLst>
              <a:ext uri="{FF2B5EF4-FFF2-40B4-BE49-F238E27FC236}">
                <a16:creationId xmlns:a16="http://schemas.microsoft.com/office/drawing/2014/main" id="{D42ABA2F-B2AD-EB92-D8AA-AEB2158867FD}"/>
              </a:ext>
            </a:extLst>
          </p:cNvPr>
          <p:cNvSpPr>
            <a:spLocks noGrp="1"/>
          </p:cNvSpPr>
          <p:nvPr>
            <p:ph idx="1"/>
          </p:nvPr>
        </p:nvSpPr>
        <p:spPr>
          <a:xfrm>
            <a:off x="848173" y="2091515"/>
            <a:ext cx="3526523" cy="3450613"/>
          </a:xfrm>
        </p:spPr>
        <p:txBody>
          <a:bodyPr>
            <a:normAutofit/>
          </a:bodyPr>
          <a:lstStyle/>
          <a:p>
            <a:r>
              <a:rPr lang="en-US" b="1" i="1" dirty="0"/>
              <a:t>Hypothesis 1: </a:t>
            </a:r>
            <a:r>
              <a:rPr lang="en-US" b="1" dirty="0"/>
              <a:t>Which product categories in the store have the biggest profit margins?</a:t>
            </a:r>
          </a:p>
          <a:p>
            <a:r>
              <a:rPr lang="en-US" dirty="0"/>
              <a:t>The technology products have the highest profit margin of the three categories.</a:t>
            </a:r>
          </a:p>
        </p:txBody>
      </p:sp>
      <p:pic>
        <p:nvPicPr>
          <p:cNvPr id="8" name="Picture 7" descr="Icon&#10;&#10;Description automatically generated">
            <a:extLst>
              <a:ext uri="{FF2B5EF4-FFF2-40B4-BE49-F238E27FC236}">
                <a16:creationId xmlns:a16="http://schemas.microsoft.com/office/drawing/2014/main" id="{F9D775B3-1368-797F-41DF-D997C8401B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1737" y="1553633"/>
            <a:ext cx="4598828" cy="3866172"/>
          </a:xfrm>
          <a:prstGeom prst="rect">
            <a:avLst/>
          </a:prstGeom>
        </p:spPr>
      </p:pic>
    </p:spTree>
    <p:extLst>
      <p:ext uri="{BB962C8B-B14F-4D97-AF65-F5344CB8AC3E}">
        <p14:creationId xmlns:p14="http://schemas.microsoft.com/office/powerpoint/2010/main" val="1854080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6ECCD-9F60-DB21-8D7A-8A53897295C8}"/>
              </a:ext>
            </a:extLst>
          </p:cNvPr>
          <p:cNvSpPr>
            <a:spLocks noGrp="1"/>
          </p:cNvSpPr>
          <p:nvPr>
            <p:ph type="title"/>
          </p:nvPr>
        </p:nvSpPr>
        <p:spPr>
          <a:xfrm>
            <a:off x="630886" y="804520"/>
            <a:ext cx="4350852" cy="1049235"/>
          </a:xfrm>
        </p:spPr>
        <p:txBody>
          <a:bodyPr>
            <a:normAutofit/>
          </a:bodyPr>
          <a:lstStyle/>
          <a:p>
            <a:r>
              <a:rPr lang="en-IN" dirty="0">
                <a:solidFill>
                  <a:schemeClr val="accent2"/>
                </a:solidFill>
              </a:rPr>
              <a:t>Testing hypotheses</a:t>
            </a:r>
          </a:p>
        </p:txBody>
      </p:sp>
      <p:sp>
        <p:nvSpPr>
          <p:cNvPr id="31" name="Content Placeholder 8">
            <a:extLst>
              <a:ext uri="{FF2B5EF4-FFF2-40B4-BE49-F238E27FC236}">
                <a16:creationId xmlns:a16="http://schemas.microsoft.com/office/drawing/2014/main" id="{E5D5E360-0160-1F59-5C1F-D7D1E2D81B7B}"/>
              </a:ext>
            </a:extLst>
          </p:cNvPr>
          <p:cNvSpPr>
            <a:spLocks noGrp="1"/>
          </p:cNvSpPr>
          <p:nvPr>
            <p:ph idx="1"/>
          </p:nvPr>
        </p:nvSpPr>
        <p:spPr>
          <a:xfrm>
            <a:off x="849194" y="2044352"/>
            <a:ext cx="3526523" cy="3450613"/>
          </a:xfrm>
        </p:spPr>
        <p:txBody>
          <a:bodyPr>
            <a:normAutofit fontScale="92500" lnSpcReduction="10000"/>
          </a:bodyPr>
          <a:lstStyle/>
          <a:p>
            <a:pPr algn="just"/>
            <a:r>
              <a:rPr lang="en-US" b="1" i="1" dirty="0"/>
              <a:t>Hypothesis 2: </a:t>
            </a:r>
            <a:r>
              <a:rPr lang="en-US" b="1" dirty="0"/>
              <a:t>Do the east region's sales significantly differ from those in the other areas? </a:t>
            </a:r>
          </a:p>
          <a:p>
            <a:pPr algn="just"/>
            <a:r>
              <a:rPr lang="en-US" dirty="0"/>
              <a:t>Yes, the East region's sales significantly differ from those in the other areas. According to the bar graph, the Central  region has the highest total sales, followed by the South region and the North region. The other regions have significantly lower total sales.</a:t>
            </a:r>
          </a:p>
        </p:txBody>
      </p:sp>
      <p:pic>
        <p:nvPicPr>
          <p:cNvPr id="4" name="Picture 3" descr="Chart, histogram&#10;&#10;Description automatically generated">
            <a:extLst>
              <a:ext uri="{FF2B5EF4-FFF2-40B4-BE49-F238E27FC236}">
                <a16:creationId xmlns:a16="http://schemas.microsoft.com/office/drawing/2014/main" id="{4E5E357A-12C0-23B4-A214-7743D5AC80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8692" y="1495913"/>
            <a:ext cx="4350852" cy="3866172"/>
          </a:xfrm>
          <a:prstGeom prst="rect">
            <a:avLst/>
          </a:prstGeom>
        </p:spPr>
      </p:pic>
    </p:spTree>
    <p:extLst>
      <p:ext uri="{BB962C8B-B14F-4D97-AF65-F5344CB8AC3E}">
        <p14:creationId xmlns:p14="http://schemas.microsoft.com/office/powerpoint/2010/main" val="2363413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E770C-9B0D-2D4C-A00B-BC90036BDCC0}"/>
              </a:ext>
            </a:extLst>
          </p:cNvPr>
          <p:cNvSpPr>
            <a:spLocks noGrp="1"/>
          </p:cNvSpPr>
          <p:nvPr>
            <p:ph type="title"/>
          </p:nvPr>
        </p:nvSpPr>
        <p:spPr>
          <a:xfrm>
            <a:off x="493060" y="804520"/>
            <a:ext cx="4488678" cy="1049235"/>
          </a:xfrm>
        </p:spPr>
        <p:txBody>
          <a:bodyPr>
            <a:normAutofit/>
          </a:bodyPr>
          <a:lstStyle/>
          <a:p>
            <a:r>
              <a:rPr lang="en-IN" dirty="0">
                <a:solidFill>
                  <a:schemeClr val="accent2"/>
                </a:solidFill>
              </a:rPr>
              <a:t>Testing hypotheses</a:t>
            </a:r>
          </a:p>
        </p:txBody>
      </p:sp>
      <p:sp>
        <p:nvSpPr>
          <p:cNvPr id="9" name="Content Placeholder 8">
            <a:extLst>
              <a:ext uri="{FF2B5EF4-FFF2-40B4-BE49-F238E27FC236}">
                <a16:creationId xmlns:a16="http://schemas.microsoft.com/office/drawing/2014/main" id="{E5C6002B-C3DE-FF3D-B1C4-B7D68AE617F3}"/>
              </a:ext>
            </a:extLst>
          </p:cNvPr>
          <p:cNvSpPr>
            <a:spLocks noGrp="1"/>
          </p:cNvSpPr>
          <p:nvPr>
            <p:ph idx="1"/>
          </p:nvPr>
        </p:nvSpPr>
        <p:spPr>
          <a:xfrm>
            <a:off x="752334" y="2208057"/>
            <a:ext cx="3526523" cy="3450613"/>
          </a:xfrm>
        </p:spPr>
        <p:txBody>
          <a:bodyPr>
            <a:normAutofit/>
          </a:bodyPr>
          <a:lstStyle/>
          <a:p>
            <a:r>
              <a:rPr lang="en-US" b="1" i="1" dirty="0"/>
              <a:t>Hypothesis 3: </a:t>
            </a:r>
            <a:r>
              <a:rPr lang="en-US" b="1" dirty="0"/>
              <a:t>How do sales fluctuate by product category throughout the course of the year?</a:t>
            </a:r>
          </a:p>
          <a:p>
            <a:r>
              <a:rPr lang="en-US" dirty="0"/>
              <a:t>From the graph, it can be observed that the starting months of the year had low sales. As time passes through the year, the sales significantly rose.</a:t>
            </a:r>
          </a:p>
        </p:txBody>
      </p:sp>
      <p:pic>
        <p:nvPicPr>
          <p:cNvPr id="4" name="Picture 3" descr="Chart, line chart&#10;&#10;Description automatically generated">
            <a:extLst>
              <a:ext uri="{FF2B5EF4-FFF2-40B4-BE49-F238E27FC236}">
                <a16:creationId xmlns:a16="http://schemas.microsoft.com/office/drawing/2014/main" id="{227DAB6D-5148-9C47-0EE0-BB6E67931F7F}"/>
              </a:ext>
            </a:extLst>
          </p:cNvPr>
          <p:cNvPicPr>
            <a:picLocks noChangeAspect="1"/>
          </p:cNvPicPr>
          <p:nvPr/>
        </p:nvPicPr>
        <p:blipFill rotWithShape="1">
          <a:blip r:embed="rId2">
            <a:extLst>
              <a:ext uri="{28A0092B-C50C-407E-A947-70E740481C1C}">
                <a14:useLocalDpi xmlns:a14="http://schemas.microsoft.com/office/drawing/2010/main" val="0"/>
              </a:ext>
            </a:extLst>
          </a:blip>
          <a:srcRect l="7893" r="2288" b="-1"/>
          <a:stretch/>
        </p:blipFill>
        <p:spPr>
          <a:xfrm>
            <a:off x="4704397" y="1241851"/>
            <a:ext cx="4821551" cy="3866172"/>
          </a:xfrm>
          <a:prstGeom prst="rect">
            <a:avLst/>
          </a:prstGeom>
        </p:spPr>
      </p:pic>
    </p:spTree>
    <p:extLst>
      <p:ext uri="{BB962C8B-B14F-4D97-AF65-F5344CB8AC3E}">
        <p14:creationId xmlns:p14="http://schemas.microsoft.com/office/powerpoint/2010/main" val="12329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8ED3E-E290-C7A9-C2B6-C140842B2A07}"/>
              </a:ext>
            </a:extLst>
          </p:cNvPr>
          <p:cNvSpPr>
            <a:spLocks noGrp="1"/>
          </p:cNvSpPr>
          <p:nvPr>
            <p:ph type="title"/>
          </p:nvPr>
        </p:nvSpPr>
        <p:spPr>
          <a:xfrm>
            <a:off x="744072" y="804520"/>
            <a:ext cx="4237666" cy="1049235"/>
          </a:xfrm>
        </p:spPr>
        <p:txBody>
          <a:bodyPr>
            <a:normAutofit/>
          </a:bodyPr>
          <a:lstStyle/>
          <a:p>
            <a:r>
              <a:rPr lang="en-IN" dirty="0">
                <a:solidFill>
                  <a:schemeClr val="accent2"/>
                </a:solidFill>
              </a:rPr>
              <a:t>Testing hypotheses</a:t>
            </a:r>
          </a:p>
        </p:txBody>
      </p:sp>
      <p:sp>
        <p:nvSpPr>
          <p:cNvPr id="9" name="Content Placeholder 8">
            <a:extLst>
              <a:ext uri="{FF2B5EF4-FFF2-40B4-BE49-F238E27FC236}">
                <a16:creationId xmlns:a16="http://schemas.microsoft.com/office/drawing/2014/main" id="{88998A81-C06C-A5CB-F2FB-9180FCDDEF1C}"/>
              </a:ext>
            </a:extLst>
          </p:cNvPr>
          <p:cNvSpPr>
            <a:spLocks noGrp="1"/>
          </p:cNvSpPr>
          <p:nvPr>
            <p:ph idx="1"/>
          </p:nvPr>
        </p:nvSpPr>
        <p:spPr>
          <a:xfrm>
            <a:off x="877839" y="2060555"/>
            <a:ext cx="3526523" cy="3450613"/>
          </a:xfrm>
        </p:spPr>
        <p:txBody>
          <a:bodyPr>
            <a:normAutofit fontScale="85000" lnSpcReduction="10000"/>
          </a:bodyPr>
          <a:lstStyle/>
          <a:p>
            <a:pPr algn="just"/>
            <a:r>
              <a:rPr lang="en-US" b="1" i="1" dirty="0"/>
              <a:t>Hypothesis 4: </a:t>
            </a:r>
            <a:r>
              <a:rPr lang="en-US" b="1" i="0" dirty="0">
                <a:solidFill>
                  <a:srgbClr val="000000"/>
                </a:solidFill>
                <a:effectLst/>
                <a:latin typeface="Helvetica Neue"/>
              </a:rPr>
              <a:t>what is the rate of returned products for orders with same-day shipping compared to other shipping options?</a:t>
            </a:r>
          </a:p>
          <a:p>
            <a:pPr algn="just"/>
            <a:r>
              <a:rPr lang="en-US" dirty="0"/>
              <a:t>According to the graph, the rate of returned products for orders with same-day shipping is 0.05%, significantly lower than the rate of returned products for orders with standard class (0.20%), second class (0.15%), and first class (0.10%). The orders with the same-day shipping have the lowest rate of returned products</a:t>
            </a:r>
          </a:p>
        </p:txBody>
      </p:sp>
      <p:pic>
        <p:nvPicPr>
          <p:cNvPr id="5" name="Content Placeholder 4" descr="A picture containing text, clipart&#10;&#10;Description automatically generated">
            <a:extLst>
              <a:ext uri="{FF2B5EF4-FFF2-40B4-BE49-F238E27FC236}">
                <a16:creationId xmlns:a16="http://schemas.microsoft.com/office/drawing/2014/main" id="{A5039477-AAE2-63B9-91E0-49A5739A60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4726" y="1630249"/>
            <a:ext cx="4821551" cy="3247166"/>
          </a:xfrm>
          <a:prstGeom prst="rect">
            <a:avLst/>
          </a:prstGeom>
        </p:spPr>
      </p:pic>
    </p:spTree>
    <p:extLst>
      <p:ext uri="{BB962C8B-B14F-4D97-AF65-F5344CB8AC3E}">
        <p14:creationId xmlns:p14="http://schemas.microsoft.com/office/powerpoint/2010/main" val="2892431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F5C2-8B05-76CD-A556-DA238407ECB3}"/>
              </a:ext>
            </a:extLst>
          </p:cNvPr>
          <p:cNvSpPr>
            <a:spLocks noGrp="1"/>
          </p:cNvSpPr>
          <p:nvPr>
            <p:ph type="title"/>
          </p:nvPr>
        </p:nvSpPr>
        <p:spPr>
          <a:xfrm>
            <a:off x="699248" y="804520"/>
            <a:ext cx="4282490" cy="1049235"/>
          </a:xfrm>
        </p:spPr>
        <p:txBody>
          <a:bodyPr>
            <a:normAutofit/>
          </a:bodyPr>
          <a:lstStyle/>
          <a:p>
            <a:r>
              <a:rPr lang="en-IN" dirty="0">
                <a:solidFill>
                  <a:schemeClr val="accent2"/>
                </a:solidFill>
              </a:rPr>
              <a:t>Testing hypotheses</a:t>
            </a:r>
          </a:p>
        </p:txBody>
      </p:sp>
      <p:sp>
        <p:nvSpPr>
          <p:cNvPr id="14" name="Content Placeholder 13">
            <a:extLst>
              <a:ext uri="{FF2B5EF4-FFF2-40B4-BE49-F238E27FC236}">
                <a16:creationId xmlns:a16="http://schemas.microsoft.com/office/drawing/2014/main" id="{2CF21836-2495-DB81-9671-1A4ACDAA6462}"/>
              </a:ext>
            </a:extLst>
          </p:cNvPr>
          <p:cNvSpPr>
            <a:spLocks noGrp="1"/>
          </p:cNvSpPr>
          <p:nvPr>
            <p:ph idx="1"/>
          </p:nvPr>
        </p:nvSpPr>
        <p:spPr>
          <a:xfrm>
            <a:off x="790678" y="1853755"/>
            <a:ext cx="3526523" cy="3450613"/>
          </a:xfrm>
        </p:spPr>
        <p:txBody>
          <a:bodyPr>
            <a:normAutofit/>
          </a:bodyPr>
          <a:lstStyle/>
          <a:p>
            <a:r>
              <a:rPr lang="en-US" b="1" i="1" dirty="0"/>
              <a:t>Hypothesis 5: </a:t>
            </a:r>
            <a:r>
              <a:rPr lang="en-US" b="1" i="0" dirty="0">
                <a:solidFill>
                  <a:srgbClr val="000000"/>
                </a:solidFill>
                <a:effectLst/>
                <a:latin typeface="Helvetica Neue"/>
              </a:rPr>
              <a:t>How do weekday sales and profits compare to weekend sales by product category? </a:t>
            </a:r>
          </a:p>
          <a:p>
            <a:r>
              <a:rPr lang="en-US" b="0" i="0" dirty="0">
                <a:solidFill>
                  <a:srgbClr val="000000"/>
                </a:solidFill>
                <a:effectLst/>
                <a:latin typeface="Helvetica Neue"/>
              </a:rPr>
              <a:t>According to the graph, weekday profits tend to be higher. Weekend sales and profits tend to be lower. Company's profit is higher on weekdays than compared to weekends.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3214" y="1553633"/>
            <a:ext cx="5064846" cy="4056854"/>
          </a:xfrm>
          <a:prstGeom prst="rect">
            <a:avLst/>
          </a:prstGeom>
        </p:spPr>
      </p:pic>
    </p:spTree>
    <p:extLst>
      <p:ext uri="{BB962C8B-B14F-4D97-AF65-F5344CB8AC3E}">
        <p14:creationId xmlns:p14="http://schemas.microsoft.com/office/powerpoint/2010/main" val="3489677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DDE9CD4-0E0A-4129-8689-A89C4E9A6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oxes on conveyor belt&#10;&#10;Description automatically generated">
            <a:extLst>
              <a:ext uri="{FF2B5EF4-FFF2-40B4-BE49-F238E27FC236}">
                <a16:creationId xmlns:a16="http://schemas.microsoft.com/office/drawing/2014/main" id="{EB626129-559F-E1B3-01D1-D674B3CB8415}"/>
              </a:ext>
            </a:extLst>
          </p:cNvPr>
          <p:cNvPicPr>
            <a:picLocks noChangeAspect="1"/>
          </p:cNvPicPr>
          <p:nvPr/>
        </p:nvPicPr>
        <p:blipFill rotWithShape="1">
          <a:blip r:embed="rId2">
            <a:duotone>
              <a:schemeClr val="bg2">
                <a:shade val="45000"/>
                <a:satMod val="135000"/>
              </a:schemeClr>
              <a:prstClr val="white"/>
            </a:duotone>
            <a:alphaModFix amt="25000"/>
          </a:blip>
          <a:srcRect/>
          <a:stretch/>
        </p:blipFill>
        <p:spPr>
          <a:xfrm>
            <a:off x="1" y="10"/>
            <a:ext cx="12191999" cy="6857990"/>
          </a:xfrm>
          <a:prstGeom prst="rect">
            <a:avLst/>
          </a:prstGeom>
        </p:spPr>
      </p:pic>
      <p:grpSp>
        <p:nvGrpSpPr>
          <p:cNvPr id="11" name="Group 10">
            <a:extLst>
              <a:ext uri="{FF2B5EF4-FFF2-40B4-BE49-F238E27FC236}">
                <a16:creationId xmlns:a16="http://schemas.microsoft.com/office/drawing/2014/main" id="{85DB3CA2-FA66-42B9-90EF-394894352D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2C8D0718-07C6-45A2-A743-BC64673C96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AE7BCCE-817C-4933-A587-F1EF87D4B4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0E96C1E8-3E07-4AF1-BA61-7FB948F90A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Rectangle 25">
              <a:extLst>
                <a:ext uri="{FF2B5EF4-FFF2-40B4-BE49-F238E27FC236}">
                  <a16:creationId xmlns:a16="http://schemas.microsoft.com/office/drawing/2014/main" id="{B3B592D1-4031-4144-A2DB-B2D8F8C73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Isosceles Triangle 15">
              <a:extLst>
                <a:ext uri="{FF2B5EF4-FFF2-40B4-BE49-F238E27FC236}">
                  <a16:creationId xmlns:a16="http://schemas.microsoft.com/office/drawing/2014/main" id="{55CB28D4-D6D1-4DB7-B557-D5FF65237B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27">
              <a:extLst>
                <a:ext uri="{FF2B5EF4-FFF2-40B4-BE49-F238E27FC236}">
                  <a16:creationId xmlns:a16="http://schemas.microsoft.com/office/drawing/2014/main" id="{F69D97D4-6031-4064-9BBA-2E96839A3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28">
              <a:extLst>
                <a:ext uri="{FF2B5EF4-FFF2-40B4-BE49-F238E27FC236}">
                  <a16:creationId xmlns:a16="http://schemas.microsoft.com/office/drawing/2014/main" id="{BAF978AE-97B1-4224-A562-EBCE373A1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29">
              <a:extLst>
                <a:ext uri="{FF2B5EF4-FFF2-40B4-BE49-F238E27FC236}">
                  <a16:creationId xmlns:a16="http://schemas.microsoft.com/office/drawing/2014/main" id="{3A18250B-41A2-4BA7-9E5C-679CF3AE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Isosceles Triangle 19">
              <a:extLst>
                <a:ext uri="{FF2B5EF4-FFF2-40B4-BE49-F238E27FC236}">
                  <a16:creationId xmlns:a16="http://schemas.microsoft.com/office/drawing/2014/main" id="{C8751ECC-5286-4332-9942-2D01B71359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Isosceles Triangle 20">
              <a:extLst>
                <a:ext uri="{FF2B5EF4-FFF2-40B4-BE49-F238E27FC236}">
                  <a16:creationId xmlns:a16="http://schemas.microsoft.com/office/drawing/2014/main" id="{5952A4A6-F619-458C-A026-6E5D6AF15D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a:extLst>
              <a:ext uri="{FF2B5EF4-FFF2-40B4-BE49-F238E27FC236}">
                <a16:creationId xmlns:a16="http://schemas.microsoft.com/office/drawing/2014/main" id="{27E56797-7E6C-863A-91C5-FA0428187A75}"/>
              </a:ext>
            </a:extLst>
          </p:cNvPr>
          <p:cNvSpPr>
            <a:spLocks noGrp="1"/>
          </p:cNvSpPr>
          <p:nvPr>
            <p:ph type="title"/>
          </p:nvPr>
        </p:nvSpPr>
        <p:spPr>
          <a:xfrm>
            <a:off x="677334" y="609600"/>
            <a:ext cx="8596668" cy="1320800"/>
          </a:xfrm>
        </p:spPr>
        <p:txBody>
          <a:bodyPr>
            <a:normAutofit/>
          </a:bodyPr>
          <a:lstStyle/>
          <a:p>
            <a:r>
              <a:rPr lang="en-IN"/>
              <a:t>Communicating results</a:t>
            </a:r>
          </a:p>
        </p:txBody>
      </p:sp>
      <p:sp>
        <p:nvSpPr>
          <p:cNvPr id="3" name="Content Placeholder 2">
            <a:extLst>
              <a:ext uri="{FF2B5EF4-FFF2-40B4-BE49-F238E27FC236}">
                <a16:creationId xmlns:a16="http://schemas.microsoft.com/office/drawing/2014/main" id="{F5C66031-E15B-006F-9F77-2560F97274DF}"/>
              </a:ext>
            </a:extLst>
          </p:cNvPr>
          <p:cNvSpPr>
            <a:spLocks noGrp="1"/>
          </p:cNvSpPr>
          <p:nvPr>
            <p:ph idx="1"/>
          </p:nvPr>
        </p:nvSpPr>
        <p:spPr>
          <a:xfrm>
            <a:off x="677334" y="2160589"/>
            <a:ext cx="8596668" cy="3880773"/>
          </a:xfrm>
        </p:spPr>
        <p:txBody>
          <a:bodyPr>
            <a:normAutofit/>
          </a:bodyPr>
          <a:lstStyle/>
          <a:p>
            <a:r>
              <a:rPr lang="en-US" dirty="0"/>
              <a:t>Technology products have the largest profit margins compared to other categories.</a:t>
            </a:r>
            <a:endParaRPr lang="en-US"/>
          </a:p>
          <a:p>
            <a:r>
              <a:rPr lang="en-US" dirty="0"/>
              <a:t>Weekdays yield higher profits than weekends.</a:t>
            </a:r>
            <a:endParaRPr lang="en-US"/>
          </a:p>
          <a:p>
            <a:r>
              <a:rPr lang="en-US" dirty="0"/>
              <a:t>Specific months experience higher sales.</a:t>
            </a:r>
            <a:endParaRPr lang="en-US"/>
          </a:p>
          <a:p>
            <a:r>
              <a:rPr lang="en-US" dirty="0"/>
              <a:t>Orders with same-day shipping exhibit the lowest return rate.</a:t>
            </a:r>
            <a:endParaRPr lang="en-US"/>
          </a:p>
          <a:p>
            <a:pPr marL="0" indent="0">
              <a:buNone/>
            </a:pPr>
            <a:endParaRPr lang="en-US"/>
          </a:p>
          <a:p>
            <a:pPr marL="0" indent="0">
              <a:buNone/>
            </a:pPr>
            <a:r>
              <a:rPr lang="en-US" dirty="0"/>
              <a:t>These findings provide crucial insights for company performance and inform future decision-making processes.</a:t>
            </a:r>
            <a:endParaRPr lang="en-IN"/>
          </a:p>
        </p:txBody>
      </p:sp>
    </p:spTree>
    <p:extLst>
      <p:ext uri="{BB962C8B-B14F-4D97-AF65-F5344CB8AC3E}">
        <p14:creationId xmlns:p14="http://schemas.microsoft.com/office/powerpoint/2010/main" val="3075804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1ABD0-9664-B7C1-03B3-346DBC721922}"/>
              </a:ext>
            </a:extLst>
          </p:cNvPr>
          <p:cNvSpPr>
            <a:spLocks noGrp="1"/>
          </p:cNvSpPr>
          <p:nvPr>
            <p:ph type="title"/>
          </p:nvPr>
        </p:nvSpPr>
        <p:spPr>
          <a:xfrm>
            <a:off x="2786047" y="609600"/>
            <a:ext cx="6487955" cy="1320800"/>
          </a:xfrm>
        </p:spPr>
        <p:txBody>
          <a:bodyPr>
            <a:normAutofit/>
          </a:bodyPr>
          <a:lstStyle/>
          <a:p>
            <a:r>
              <a:rPr lang="en-IN"/>
              <a:t>Suggestions</a:t>
            </a:r>
            <a:endParaRPr lang="en-IN" i="1"/>
          </a:p>
        </p:txBody>
      </p:sp>
      <p:pic>
        <p:nvPicPr>
          <p:cNvPr id="5" name="Picture 4" descr="Multi coloured shirts hanging on the closet">
            <a:extLst>
              <a:ext uri="{FF2B5EF4-FFF2-40B4-BE49-F238E27FC236}">
                <a16:creationId xmlns:a16="http://schemas.microsoft.com/office/drawing/2014/main" id="{D91C5BBA-B771-D257-7B05-45BA74364948}"/>
              </a:ext>
            </a:extLst>
          </p:cNvPr>
          <p:cNvPicPr>
            <a:picLocks noChangeAspect="1"/>
          </p:cNvPicPr>
          <p:nvPr/>
        </p:nvPicPr>
        <p:blipFill rotWithShape="1">
          <a:blip r:embed="rId2">
            <a:duotone>
              <a:prstClr val="black"/>
              <a:schemeClr val="tx2">
                <a:tint val="45000"/>
                <a:satMod val="400000"/>
              </a:schemeClr>
            </a:duotone>
          </a:blip>
          <a:srcRect l="18147" r="55413" b="1"/>
          <a:stretch/>
        </p:blipFill>
        <p:spPr>
          <a:xfrm>
            <a:off x="20" y="10"/>
            <a:ext cx="2734036"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9" name="Isosceles Triangle 8">
            <a:extLst>
              <a:ext uri="{FF2B5EF4-FFF2-40B4-BE49-F238E27FC236}">
                <a16:creationId xmlns:a16="http://schemas.microsoft.com/office/drawing/2014/main" id="{518E5A25-92C5-4F27-8E26-0AAAB0CD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BB19DAF7-5F3E-736D-9733-83895A57873B}"/>
              </a:ext>
            </a:extLst>
          </p:cNvPr>
          <p:cNvSpPr>
            <a:spLocks noGrp="1"/>
          </p:cNvSpPr>
          <p:nvPr>
            <p:ph idx="1"/>
          </p:nvPr>
        </p:nvSpPr>
        <p:spPr>
          <a:xfrm>
            <a:off x="2786047" y="2160589"/>
            <a:ext cx="6487955" cy="3880773"/>
          </a:xfrm>
        </p:spPr>
        <p:txBody>
          <a:bodyPr>
            <a:normAutofit/>
          </a:bodyPr>
          <a:lstStyle/>
          <a:p>
            <a:r>
              <a:rPr lang="en-US" dirty="0"/>
              <a:t>Focus on Technology</a:t>
            </a:r>
            <a:endParaRPr lang="en-US"/>
          </a:p>
          <a:p>
            <a:r>
              <a:rPr lang="en-US" dirty="0"/>
              <a:t>Optimize Production</a:t>
            </a:r>
            <a:endParaRPr lang="en-US"/>
          </a:p>
          <a:p>
            <a:r>
              <a:rPr lang="en-US" dirty="0"/>
              <a:t>Central Region Priority</a:t>
            </a:r>
            <a:endParaRPr lang="en-US"/>
          </a:p>
          <a:p>
            <a:r>
              <a:rPr lang="en-US" dirty="0"/>
              <a:t>Seasonal Sales Emphasis</a:t>
            </a:r>
            <a:endParaRPr lang="en-US"/>
          </a:p>
          <a:p>
            <a:r>
              <a:rPr lang="en-US" dirty="0"/>
              <a:t>Address Slower Months</a:t>
            </a:r>
            <a:endParaRPr lang="en-US"/>
          </a:p>
          <a:p>
            <a:r>
              <a:rPr lang="en-US" dirty="0"/>
              <a:t>Same-Day Shipping Options</a:t>
            </a:r>
            <a:endParaRPr lang="en-US"/>
          </a:p>
          <a:p>
            <a:pPr marL="0" indent="0">
              <a:buNone/>
            </a:pPr>
            <a:endParaRPr lang="en-US"/>
          </a:p>
        </p:txBody>
      </p:sp>
    </p:spTree>
    <p:extLst>
      <p:ext uri="{BB962C8B-B14F-4D97-AF65-F5344CB8AC3E}">
        <p14:creationId xmlns:p14="http://schemas.microsoft.com/office/powerpoint/2010/main" val="3638223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28460BD8-AE3F-4AC9-9D0B-717052AA5D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8" name="Straight Connector 7">
              <a:extLst>
                <a:ext uri="{FF2B5EF4-FFF2-40B4-BE49-F238E27FC236}">
                  <a16:creationId xmlns:a16="http://schemas.microsoft.com/office/drawing/2014/main" id="{54420CFE-F482-466E-9E1E-C78513C0B8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5331032B-BD21-4BDA-920C-12E3580525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5" name="Rectangle 23">
              <a:extLst>
                <a:ext uri="{FF2B5EF4-FFF2-40B4-BE49-F238E27FC236}">
                  <a16:creationId xmlns:a16="http://schemas.microsoft.com/office/drawing/2014/main" id="{E7514DA3-59E7-409E-8A3B-AD097F6E5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6" name="Rectangle 25">
              <a:extLst>
                <a:ext uri="{FF2B5EF4-FFF2-40B4-BE49-F238E27FC236}">
                  <a16:creationId xmlns:a16="http://schemas.microsoft.com/office/drawing/2014/main" id="{57B9A2A6-3BE4-4599-9364-F71C5BFD6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7" name="Isosceles Triangle 46">
              <a:extLst>
                <a:ext uri="{FF2B5EF4-FFF2-40B4-BE49-F238E27FC236}">
                  <a16:creationId xmlns:a16="http://schemas.microsoft.com/office/drawing/2014/main" id="{4FD744C6-4ED8-4BC9-BF68-6BDF701C5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8" name="Rectangle 27">
              <a:extLst>
                <a:ext uri="{FF2B5EF4-FFF2-40B4-BE49-F238E27FC236}">
                  <a16:creationId xmlns:a16="http://schemas.microsoft.com/office/drawing/2014/main" id="{092C5BAD-C911-4F8F-A1C5-470268BE6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9" name="Rectangle 28">
              <a:extLst>
                <a:ext uri="{FF2B5EF4-FFF2-40B4-BE49-F238E27FC236}">
                  <a16:creationId xmlns:a16="http://schemas.microsoft.com/office/drawing/2014/main" id="{B133D0C8-4EC4-424F-8E70-0482D5B1B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0" name="Rectangle 29">
              <a:extLst>
                <a:ext uri="{FF2B5EF4-FFF2-40B4-BE49-F238E27FC236}">
                  <a16:creationId xmlns:a16="http://schemas.microsoft.com/office/drawing/2014/main" id="{7B1532A0-F4B3-4DE8-B18F-740CAAD25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1" name="Isosceles Triangle 50">
              <a:extLst>
                <a:ext uri="{FF2B5EF4-FFF2-40B4-BE49-F238E27FC236}">
                  <a16:creationId xmlns:a16="http://schemas.microsoft.com/office/drawing/2014/main" id="{8EFDD162-BBBA-4062-8BBF-53DBA1091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2" name="Isosceles Triangle 51">
              <a:extLst>
                <a:ext uri="{FF2B5EF4-FFF2-40B4-BE49-F238E27FC236}">
                  <a16:creationId xmlns:a16="http://schemas.microsoft.com/office/drawing/2014/main" id="{DCFC9E65-3E19-4483-B952-25D29683CA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useBgFill="1">
        <p:nvSpPr>
          <p:cNvPr id="53" name="Rectangle 52">
            <a:extLst>
              <a:ext uri="{FF2B5EF4-FFF2-40B4-BE49-F238E27FC236}">
                <a16:creationId xmlns:a16="http://schemas.microsoft.com/office/drawing/2014/main" id="{DD6BC9EB-F181-48AB-BCA2-3D1DB20D2D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9F7EEC-BF29-6FE8-3E72-B2B2F324AF13}"/>
              </a:ext>
            </a:extLst>
          </p:cNvPr>
          <p:cNvSpPr>
            <a:spLocks noGrp="1"/>
          </p:cNvSpPr>
          <p:nvPr>
            <p:ph type="title"/>
          </p:nvPr>
        </p:nvSpPr>
        <p:spPr>
          <a:xfrm>
            <a:off x="1507066" y="999460"/>
            <a:ext cx="5698067" cy="4479852"/>
          </a:xfrm>
        </p:spPr>
        <p:txBody>
          <a:bodyPr vert="horz" lIns="91440" tIns="45720" rIns="91440" bIns="45720" rtlCol="0" anchor="ctr">
            <a:normAutofit/>
          </a:bodyPr>
          <a:lstStyle/>
          <a:p>
            <a:pPr algn="r"/>
            <a:r>
              <a:rPr lang="en-US" sz="5400"/>
              <a:t>Thank you</a:t>
            </a:r>
          </a:p>
        </p:txBody>
      </p:sp>
      <p:sp>
        <p:nvSpPr>
          <p:cNvPr id="54" name="Isosceles Triangle 53">
            <a:extLst>
              <a:ext uri="{FF2B5EF4-FFF2-40B4-BE49-F238E27FC236}">
                <a16:creationId xmlns:a16="http://schemas.microsoft.com/office/drawing/2014/main" id="{D33AAA80-39DC-4020-9BFF-0718F35C7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23" name="Straight Connector 22">
            <a:extLst>
              <a:ext uri="{FF2B5EF4-FFF2-40B4-BE49-F238E27FC236}">
                <a16:creationId xmlns:a16="http://schemas.microsoft.com/office/drawing/2014/main" id="{C9C5D90B-7EE3-4D26-AB7D-A5A3A6E112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4656" y="1639186"/>
            <a:ext cx="0" cy="3200400"/>
          </a:xfrm>
          <a:prstGeom prst="line">
            <a:avLst/>
          </a:prstGeom>
        </p:spPr>
        <p:style>
          <a:lnRef idx="1">
            <a:schemeClr val="accent1"/>
          </a:lnRef>
          <a:fillRef idx="0">
            <a:schemeClr val="accent1"/>
          </a:fillRef>
          <a:effectRef idx="0">
            <a:schemeClr val="accent1"/>
          </a:effectRef>
          <a:fontRef idx="minor">
            <a:schemeClr val="tx1"/>
          </a:fontRef>
        </p:style>
      </p:cxnSp>
      <p:sp>
        <p:nvSpPr>
          <p:cNvPr id="25" name="Isosceles Triangle 24">
            <a:extLst>
              <a:ext uri="{FF2B5EF4-FFF2-40B4-BE49-F238E27FC236}">
                <a16:creationId xmlns:a16="http://schemas.microsoft.com/office/drawing/2014/main" id="{1177F295-741F-4EFF-B0CA-BE69295ADA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flipV="1">
            <a:off x="11349404" y="1217756"/>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4646480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5624</TotalTime>
  <Words>668</Words>
  <Application>Microsoft Office PowerPoint</Application>
  <PresentationFormat>Widescreen</PresentationFormat>
  <Paragraphs>60</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Cambria</vt:lpstr>
      <vt:lpstr>Helvetica Neue</vt:lpstr>
      <vt:lpstr>Trebuchet MS</vt:lpstr>
      <vt:lpstr>Wingdings 3</vt:lpstr>
      <vt:lpstr>Facet</vt:lpstr>
      <vt:lpstr>PowerPoint Presentation</vt:lpstr>
      <vt:lpstr>Problem Statement</vt:lpstr>
      <vt:lpstr>Collecting and preparing data</vt:lpstr>
      <vt:lpstr>Exploring the data</vt:lpstr>
      <vt:lpstr>Project research Objectives</vt:lpstr>
      <vt:lpstr>Testing hypotheses</vt:lpstr>
      <vt:lpstr>Testing hypotheses</vt:lpstr>
      <vt:lpstr>Testing hypotheses</vt:lpstr>
      <vt:lpstr>Testing hypotheses</vt:lpstr>
      <vt:lpstr>Testing hypotheses</vt:lpstr>
      <vt:lpstr>Communicating results</vt:lpstr>
      <vt:lpstr>Suggestions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Priyang Bhatt</dc:creator>
  <cp:lastModifiedBy>Bijja, LalithaPriya</cp:lastModifiedBy>
  <cp:revision>101</cp:revision>
  <dcterms:created xsi:type="dcterms:W3CDTF">2023-03-31T09:54:37Z</dcterms:created>
  <dcterms:modified xsi:type="dcterms:W3CDTF">2023-12-03T03:19:40Z</dcterms:modified>
</cp:coreProperties>
</file>